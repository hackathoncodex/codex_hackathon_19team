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72dee975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g3f72dee9754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한 문장으로 문제와 해결책을 동시에 제시한다.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AI-generated visual created with OpenAI image generation for this deck, 2026-08-16.</a:t>
            </a:r>
            <a:endParaRPr/>
          </a:p>
        </p:txBody>
      </p:sp>
      <p:sp>
        <p:nvSpPr>
          <p:cNvPr id="14" name="Google Shape;14;g3f72dee9754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72dee9754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g3f72dee9754_1_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차별점은 탐지 정확도만이 아니라 사용 목적과 보존 의도를 반영한다는 점이다.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product framing and targets are team hypotheses.</a:t>
            </a:r>
            <a:endParaRPr/>
          </a:p>
        </p:txBody>
      </p:sp>
      <p:sp>
        <p:nvSpPr>
          <p:cNvPr id="25" name="Google Shape;25;g3f72dee9754_1_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72dee9754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g3f72dee9754_1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사용자가 실제로 겪는 장면을 먼저 보여주고, 기술 설명은 뒤로 미룬다.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product framing and targets are team hypotheses.</a:t>
            </a:r>
            <a:endParaRPr/>
          </a:p>
        </p:txBody>
      </p:sp>
      <p:sp>
        <p:nvSpPr>
          <p:cNvPr id="43" name="Google Shape;43;g3f72dee9754_1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2dee9754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g3f72dee9754_1_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해커톤 MVP는 중고거래 이미지에 집중하고, 같은 엔진이 다른 시장으로 확장됨을 설명한다.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product framing and targets are team hypotheses.</a:t>
            </a:r>
            <a:endParaRPr/>
          </a:p>
        </p:txBody>
      </p:sp>
      <p:sp>
        <p:nvSpPr>
          <p:cNvPr id="64" name="Google Shape;64;g3f72dee9754_1_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88" name="Google Shape;8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210" name="Google Shape;21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233" name="Google Shape;23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project description and attached images, 2026-08-16.</a:t>
            </a:r>
            <a:endParaRPr/>
          </a:p>
        </p:txBody>
      </p:sp>
      <p:sp>
        <p:nvSpPr>
          <p:cNvPr id="274" name="Google Shape;27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33400" y="1257300"/>
            <a:ext cx="5334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>
                <a:solidFill>
                  <a:srgbClr val="101114"/>
                </a:solidFill>
              </a:rPr>
              <a:t>PRIVIEW: </a:t>
            </a:r>
            <a:endParaRPr sz="4350" b="1">
              <a:solidFill>
                <a:srgbClr val="10111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0111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사진은 그대로,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개인정보만 안전하게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33400" y="3626950"/>
            <a:ext cx="5238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공</a:t>
            </a:r>
            <a:r>
              <a:rPr lang="en-US" sz="1800">
                <a:solidFill>
                  <a:srgbClr val="5E6570"/>
                </a:solidFill>
              </a:rPr>
              <a:t>유</a:t>
            </a:r>
            <a:r>
              <a:rPr lang="en-US" sz="18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 목적을 이해하고 민감정보 후보를 찾아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사용자가 선택한 부분만 자연스럽게 익명화하는 </a:t>
            </a:r>
            <a:endParaRPr sz="1800" b="0">
              <a:solidFill>
                <a:srgbClr val="5E65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E6570"/>
                </a:solidFill>
              </a:rPr>
              <a:t>생성형 이미지 개인정보 보호 시스템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33400" y="4953000"/>
            <a:ext cx="1857300" cy="76200"/>
          </a:xfrm>
          <a:prstGeom prst="rect">
            <a:avLst/>
          </a:prstGeom>
          <a:solidFill>
            <a:srgbClr val="118C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33400" y="52197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01114"/>
                </a:solidFill>
              </a:rPr>
              <a:t>19조</a:t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t="6416" b="6407"/>
          <a:stretch/>
        </p:blipFill>
        <p:spPr>
          <a:xfrm>
            <a:off x="6324600" y="381000"/>
            <a:ext cx="5334000" cy="58104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11125200" y="6429375"/>
            <a:ext cx="533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33400" y="304800"/>
            <a:ext cx="409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rgbClr val="118C86"/>
                </a:solidFill>
              </a:rPr>
              <a:t>NAME &amp; MEANING</a:t>
            </a:r>
            <a:endParaRPr sz="1700" b="1">
              <a:solidFill>
                <a:srgbClr val="118C86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33400" y="59055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01114"/>
                </a:solidFill>
              </a:rPr>
              <a:t>PRIVIEW = Privacy + Preview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33400" y="1362075"/>
            <a:ext cx="11125200" cy="96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33400" y="1809750"/>
            <a:ext cx="4953000" cy="3714900"/>
          </a:xfrm>
          <a:prstGeom prst="roundRect">
            <a:avLst>
              <a:gd name="adj" fmla="val 3590"/>
            </a:avLst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  사진 속 신원 단서를 안전하게 제거</a:t>
            </a:r>
            <a:endParaRPr sz="1600"/>
          </a:p>
        </p:txBody>
      </p:sp>
      <p:sp>
        <p:nvSpPr>
          <p:cNvPr id="31" name="Google Shape;31;p4"/>
          <p:cNvSpPr/>
          <p:nvPr/>
        </p:nvSpPr>
        <p:spPr>
          <a:xfrm>
            <a:off x="6705600" y="1809750"/>
            <a:ext cx="4953000" cy="3714900"/>
          </a:xfrm>
          <a:prstGeom prst="roundRect">
            <a:avLst>
              <a:gd name="adj" fmla="val 3590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8C86"/>
                </a:solidFill>
              </a:rPr>
              <a:t>      </a:t>
            </a:r>
            <a:endParaRPr>
              <a:solidFill>
                <a:srgbClr val="118C8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8C8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8C8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8C8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8C86"/>
                </a:solidFill>
              </a:rPr>
              <a:t>     </a:t>
            </a:r>
            <a:r>
              <a:rPr lang="en-US" sz="1600">
                <a:solidFill>
                  <a:schemeClr val="dk1"/>
                </a:solidFill>
              </a:rPr>
              <a:t>두 단어를 결합한 서비스명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38200" y="2114550"/>
            <a:ext cx="2381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>
                <a:solidFill>
                  <a:srgbClr val="5E6570"/>
                </a:solidFill>
              </a:rPr>
              <a:t>Privacy</a:t>
            </a:r>
            <a:endParaRPr sz="1900"/>
          </a:p>
        </p:txBody>
      </p:sp>
      <p:sp>
        <p:nvSpPr>
          <p:cNvPr id="33" name="Google Shape;33;p4"/>
          <p:cNvSpPr/>
          <p:nvPr/>
        </p:nvSpPr>
        <p:spPr>
          <a:xfrm>
            <a:off x="838200" y="2762250"/>
            <a:ext cx="37149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>
                <a:solidFill>
                  <a:srgbClr val="101114"/>
                </a:solidFill>
              </a:rPr>
              <a:t>개인정보를</a:t>
            </a:r>
            <a:endParaRPr sz="2900" b="1">
              <a:solidFill>
                <a:srgbClr val="10111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101114"/>
                </a:solidFill>
              </a:rPr>
              <a:t>보호하고</a:t>
            </a:r>
            <a:endParaRPr sz="2900" b="1">
              <a:solidFill>
                <a:srgbClr val="101114"/>
              </a:solidFill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38200" y="447675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010400" y="2114550"/>
            <a:ext cx="2381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>
                <a:solidFill>
                  <a:srgbClr val="118C86"/>
                </a:solidFill>
              </a:rPr>
              <a:t>Preview</a:t>
            </a:r>
            <a:endParaRPr sz="1900">
              <a:solidFill>
                <a:srgbClr val="118C86"/>
              </a:solidFill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010400" y="2762250"/>
            <a:ext cx="40959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>
                <a:solidFill>
                  <a:srgbClr val="101114"/>
                </a:solidFill>
              </a:rPr>
              <a:t>공유하기 전</a:t>
            </a:r>
            <a:endParaRPr sz="2900" b="1">
              <a:solidFill>
                <a:srgbClr val="10111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101114"/>
                </a:solidFill>
              </a:rPr>
              <a:t>노출 정보를 미리 확인</a:t>
            </a:r>
            <a:endParaRPr sz="2900" b="1">
              <a:solidFill>
                <a:srgbClr val="101114"/>
              </a:solidFill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010400" y="4476750"/>
            <a:ext cx="4095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734050" y="3143250"/>
            <a:ext cx="723900" cy="723900"/>
          </a:xfrm>
          <a:prstGeom prst="chevron">
            <a:avLst>
              <a:gd name="adj" fmla="val 50000"/>
            </a:avLst>
          </a:prstGeom>
          <a:solidFill>
            <a:srgbClr val="118C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8C86"/>
              </a:solidFill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125200" y="6429375"/>
            <a:ext cx="533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5E6570"/>
                </a:solidFill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10675" y="1719725"/>
            <a:ext cx="6442500" cy="4209300"/>
          </a:xfrm>
          <a:prstGeom prst="roundRect">
            <a:avLst>
              <a:gd name="adj" fmla="val 16667"/>
            </a:avLst>
          </a:prstGeom>
          <a:solidFill>
            <a:srgbClr val="F1F3F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533400" y="304800"/>
            <a:ext cx="409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1700">
              <a:solidFill>
                <a:srgbClr val="118C86"/>
              </a:solidFill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33400" y="59055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공유하려는 대상보다 더 많은 정보가 사진에 남는다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533400" y="1362075"/>
            <a:ext cx="11125200" cy="96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33400" y="1809750"/>
            <a:ext cx="61914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50" b="1">
              <a:solidFill>
                <a:srgbClr val="10111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b="1">
              <a:solidFill>
                <a:srgbClr val="10111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 b="1">
                <a:solidFill>
                  <a:srgbClr val="101114"/>
                </a:solidFill>
              </a:rPr>
              <a:t>“내 얼굴 사진을 SNS에 올리고 싶은데,</a:t>
            </a:r>
            <a:br>
              <a:rPr lang="en-US" sz="2450" b="1">
                <a:solidFill>
                  <a:srgbClr val="101114"/>
                </a:solidFill>
              </a:rPr>
            </a:br>
            <a:r>
              <a:rPr lang="en-US" sz="2450" b="1">
                <a:solidFill>
                  <a:srgbClr val="101114"/>
                </a:solidFill>
              </a:rPr>
              <a:t> 뒤에 찍힌 다른 사람과 표지까지 함께 공개된다.”</a:t>
            </a:r>
            <a:endParaRPr sz="2450" b="1">
              <a:solidFill>
                <a:srgbClr val="10111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 b="1">
                <a:solidFill>
                  <a:srgbClr val="101114"/>
                </a:solidFill>
              </a:rPr>
              <a:t>“가리면 사진이 망가지고,</a:t>
            </a:r>
            <a:br>
              <a:rPr lang="en-US" sz="2450" b="1">
                <a:solidFill>
                  <a:srgbClr val="101114"/>
                </a:solidFill>
              </a:rPr>
            </a:br>
            <a:r>
              <a:rPr lang="en-US" sz="2450" b="1">
                <a:solidFill>
                  <a:srgbClr val="101114"/>
                </a:solidFill>
              </a:rPr>
              <a:t> 그대로 올리면 타인의 개인정보가 노출된다.”</a:t>
            </a:r>
            <a:endParaRPr sz="2250" b="1">
              <a:solidFill>
                <a:srgbClr val="101114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50" b="1">
              <a:solidFill>
                <a:srgbClr val="101114"/>
              </a:solidFill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429500" y="1771650"/>
            <a:ext cx="4229100" cy="4038600"/>
          </a:xfrm>
          <a:prstGeom prst="roundRect">
            <a:avLst>
              <a:gd name="adj" fmla="val 3774"/>
            </a:avLst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7848600" y="2299172"/>
            <a:ext cx="95400" cy="954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096250" y="2143125"/>
            <a:ext cx="3086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의도하지 않은 노출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096250" y="2486025"/>
            <a:ext cx="3086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반사된 얼굴, 배송 라벨, 문서, 화면 속 이름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848600" y="3429425"/>
            <a:ext cx="95400" cy="95400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096250" y="3286125"/>
            <a:ext cx="3086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발견하기 어려운 단서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096250" y="3629025"/>
            <a:ext cx="3086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시리얼 번호, 배경의 위치 단서, 이미지 메타데이터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848600" y="4572425"/>
            <a:ext cx="95400" cy="95400"/>
          </a:xfrm>
          <a:prstGeom prst="roundRect">
            <a:avLst>
              <a:gd name="adj" fmla="val 50000"/>
            </a:avLst>
          </a:prstGeom>
          <a:solidFill>
            <a:srgbClr val="2E9E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096250" y="4429125"/>
            <a:ext cx="3086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기존 방식의 손실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096250" y="4772025"/>
            <a:ext cx="3086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전체 블러는 상품 상태와 사진의 활용 가치까지 훼손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1125200" y="6429375"/>
            <a:ext cx="533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5E6570"/>
                </a:solidFill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33400" y="304800"/>
            <a:ext cx="409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sz="1700">
              <a:solidFill>
                <a:srgbClr val="118C86"/>
              </a:solidFill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33400" y="59055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첫 고객은 ‘사진을 공개해야 하지만 신원은 숨겨야 하는 사람’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33400" y="1362075"/>
            <a:ext cx="11125200" cy="96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33400" y="1981200"/>
            <a:ext cx="3467100" cy="3390900"/>
          </a:xfrm>
          <a:prstGeom prst="roundRect">
            <a:avLst>
              <a:gd name="adj" fmla="val 3933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00100" y="2266950"/>
            <a:ext cx="1333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초기 MVP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00100" y="2781300"/>
            <a:ext cx="8574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362450" y="1981200"/>
            <a:ext cx="3467100" cy="3390900"/>
          </a:xfrm>
          <a:prstGeom prst="roundRect">
            <a:avLst>
              <a:gd name="adj" fmla="val 3933"/>
            </a:avLst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629150" y="2266950"/>
            <a:ext cx="1333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확장 시장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629150" y="2781300"/>
            <a:ext cx="8574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191500" y="1981200"/>
            <a:ext cx="3467100" cy="3390900"/>
          </a:xfrm>
          <a:prstGeom prst="roundRect">
            <a:avLst>
              <a:gd name="adj" fmla="val 3933"/>
            </a:avLst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458200" y="2266950"/>
            <a:ext cx="1333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B2B 확장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458200" y="2781300"/>
            <a:ext cx="8574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458200" y="3600450"/>
            <a:ext cx="29337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01114"/>
                </a:solidFill>
                <a:latin typeface="Arial"/>
                <a:ea typeface="Arial"/>
                <a:cs typeface="Arial"/>
                <a:sym typeface="Arial"/>
              </a:rPr>
              <a:t>업무 자료 공유자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458200" y="4171950"/>
            <a:ext cx="293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문서 구조는 유지하면서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이름·연락처·화면 정보 제거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1125200" y="6429375"/>
            <a:ext cx="533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E6570"/>
                </a:solidFill>
              </a:rPr>
              <a:t>04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00100" y="3600450"/>
            <a:ext cx="29337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01114"/>
                </a:solidFill>
              </a:rPr>
              <a:t>개인 SNS 사용자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00100" y="4171950"/>
            <a:ext cx="293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E6570"/>
                </a:solidFill>
              </a:rPr>
              <a:t>내 얼굴은 유지하고</a:t>
            </a:r>
            <a:endParaRPr sz="1350">
              <a:solidFill>
                <a:srgbClr val="5E657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E6570"/>
                </a:solidFill>
              </a:rPr>
              <a:t>배경의 타인·표지·번호판만 치환</a:t>
            </a:r>
            <a:endParaRPr sz="1350">
              <a:solidFill>
                <a:srgbClr val="5E6570"/>
              </a:solidFill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629150" y="3600450"/>
            <a:ext cx="29337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01114"/>
                </a:solidFill>
              </a:rPr>
              <a:t>중고거래 판매자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629150" y="4171950"/>
            <a:ext cx="293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현장 맥락은 보존하고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5E6570"/>
                </a:solidFill>
                <a:latin typeface="Arial"/>
                <a:ea typeface="Arial"/>
                <a:cs typeface="Arial"/>
                <a:sym typeface="Arial"/>
              </a:rPr>
              <a:t>제보자와 주변인은 보호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PROJECT THESIS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비식별화의 기준을 ‘가림’에서 ‘맥락 보존 치환’으로 바꾼다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33400" y="167640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기존 방식</a:t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7086600" y="167640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생성형 치환</a:t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533400" y="2152650"/>
            <a:ext cx="4572000" cy="2457450"/>
          </a:xfrm>
          <a:prstGeom prst="roundRect">
            <a:avLst>
              <a:gd name="adj" fmla="val 4651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7086600" y="2152650"/>
            <a:ext cx="4572000" cy="2457450"/>
          </a:xfrm>
          <a:prstGeom prst="roundRect">
            <a:avLst>
              <a:gd name="adj" fmla="val 4651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838200" y="241935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블러 · 모자이크 · 검은 박스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38200" y="3219450"/>
            <a:ext cx="3810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개인정보는 가리지만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이미지 활용성과 몰입감이 떨어짐</a:t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7391400" y="2419350"/>
            <a:ext cx="39624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새로운 비식별 요소로 자연스럽게 교체</a:t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391400" y="3352800"/>
            <a:ext cx="3905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구도·분위기·조명·원근을 유지해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처음부터 그렇게 촬영된 사진처럼 생성</a:t>
            </a:r>
            <a:endParaRPr/>
          </a:p>
        </p:txBody>
      </p:sp>
      <p:cxnSp>
        <p:nvCxnSpPr>
          <p:cNvPr id="101" name="Google Shape;101;p7"/>
          <p:cNvCxnSpPr/>
          <p:nvPr/>
        </p:nvCxnSpPr>
        <p:spPr>
          <a:xfrm>
            <a:off x="5334000" y="3381375"/>
            <a:ext cx="1466850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7"/>
          <p:cNvSpPr/>
          <p:nvPr/>
        </p:nvSpPr>
        <p:spPr>
          <a:xfrm>
            <a:off x="533400" y="5162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목표 결과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33400" y="54864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개인정보 제거와 원본 사진의 시각적 품질을 동시에 만족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END-TO-END FLOW</a:t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사용자가 통제하는 8단계 처리 흐름</a:t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" name="Google Shape;113;p8"/>
          <p:cNvCxnSpPr/>
          <p:nvPr/>
        </p:nvCxnSpPr>
        <p:spPr>
          <a:xfrm>
            <a:off x="1733550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8"/>
          <p:cNvSpPr/>
          <p:nvPr/>
        </p:nvSpPr>
        <p:spPr>
          <a:xfrm>
            <a:off x="533400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47700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647700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이미지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업로드</a:t>
            </a:r>
            <a:endParaRPr/>
          </a:p>
        </p:txBody>
      </p:sp>
      <p:cxnSp>
        <p:nvCxnSpPr>
          <p:cNvPr id="117" name="Google Shape;117;p8"/>
          <p:cNvCxnSpPr/>
          <p:nvPr/>
        </p:nvCxnSpPr>
        <p:spPr>
          <a:xfrm>
            <a:off x="3152775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8"/>
          <p:cNvSpPr/>
          <p:nvPr/>
        </p:nvSpPr>
        <p:spPr>
          <a:xfrm>
            <a:off x="1952625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2066925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2066925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cxnSp>
        <p:nvCxnSpPr>
          <p:cNvPr id="121" name="Google Shape;121;p8"/>
          <p:cNvCxnSpPr/>
          <p:nvPr/>
        </p:nvCxnSpPr>
        <p:spPr>
          <a:xfrm>
            <a:off x="4572000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8"/>
          <p:cNvSpPr/>
          <p:nvPr/>
        </p:nvSpPr>
        <p:spPr>
          <a:xfrm>
            <a:off x="3371850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3486150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3486150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RunPod 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/>
          </a:p>
        </p:txBody>
      </p:sp>
      <p:cxnSp>
        <p:nvCxnSpPr>
          <p:cNvPr id="125" name="Google Shape;125;p8"/>
          <p:cNvCxnSpPr/>
          <p:nvPr/>
        </p:nvCxnSpPr>
        <p:spPr>
          <a:xfrm>
            <a:off x="5991225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8"/>
          <p:cNvSpPr/>
          <p:nvPr/>
        </p:nvSpPr>
        <p:spPr>
          <a:xfrm>
            <a:off x="4791075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4905375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905375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후보 박스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생성</a:t>
            </a:r>
            <a:endParaRPr/>
          </a:p>
        </p:txBody>
      </p:sp>
      <p:cxnSp>
        <p:nvCxnSpPr>
          <p:cNvPr id="129" name="Google Shape;129;p8"/>
          <p:cNvCxnSpPr/>
          <p:nvPr/>
        </p:nvCxnSpPr>
        <p:spPr>
          <a:xfrm>
            <a:off x="7410450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8"/>
          <p:cNvSpPr/>
          <p:nvPr/>
        </p:nvSpPr>
        <p:spPr>
          <a:xfrm>
            <a:off x="6210300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324600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324600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선택</a:t>
            </a:r>
            <a:endParaRPr/>
          </a:p>
        </p:txBody>
      </p:sp>
      <p:cxnSp>
        <p:nvCxnSpPr>
          <p:cNvPr id="133" name="Google Shape;133;p8"/>
          <p:cNvCxnSpPr/>
          <p:nvPr/>
        </p:nvCxnSpPr>
        <p:spPr>
          <a:xfrm>
            <a:off x="8829675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8"/>
          <p:cNvSpPr/>
          <p:nvPr/>
        </p:nvSpPr>
        <p:spPr>
          <a:xfrm>
            <a:off x="7629525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743825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743825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선택 후보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치환</a:t>
            </a:r>
            <a:endParaRPr/>
          </a:p>
        </p:txBody>
      </p:sp>
      <p:cxnSp>
        <p:nvCxnSpPr>
          <p:cNvPr id="137" name="Google Shape;137;p8"/>
          <p:cNvCxnSpPr/>
          <p:nvPr/>
        </p:nvCxnSpPr>
        <p:spPr>
          <a:xfrm>
            <a:off x="10248900" y="2762250"/>
            <a:ext cx="123825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8"/>
          <p:cNvSpPr/>
          <p:nvPr/>
        </p:nvSpPr>
        <p:spPr>
          <a:xfrm>
            <a:off x="9048750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163050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9163050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crop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이미지 편집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0467975" y="2362200"/>
            <a:ext cx="1200150" cy="876300"/>
          </a:xfrm>
          <a:prstGeom prst="roundRect">
            <a:avLst>
              <a:gd name="adj" fmla="val 13043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0582275" y="24574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10582275" y="2647950"/>
            <a:ext cx="9715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원본 합성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및 검수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533400" y="3848100"/>
            <a:ext cx="4029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탐지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33400" y="4229100"/>
            <a:ext cx="4029075" cy="3810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791075" y="3848100"/>
            <a:ext cx="2619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사용자 선택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791075" y="4229100"/>
            <a:ext cx="2619375" cy="38100"/>
          </a:xfrm>
          <a:prstGeom prst="roundRect">
            <a:avLst>
              <a:gd name="adj" fmla="val 50000"/>
            </a:avLst>
          </a:prstGeom>
          <a:solidFill>
            <a:srgbClr val="118C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629525" y="3848100"/>
            <a:ext cx="2619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치환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629525" y="4229100"/>
            <a:ext cx="2619375" cy="3810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10467975" y="3848100"/>
            <a:ext cx="119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0467975" y="4229100"/>
            <a:ext cx="1190625" cy="38100"/>
          </a:xfrm>
          <a:prstGeom prst="roundRect">
            <a:avLst>
              <a:gd name="adj" fmla="val 50000"/>
            </a:avLst>
          </a:prstGeom>
          <a:solidFill>
            <a:srgbClr val="118C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33400" y="495300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시스템 자동화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791075" y="4953000"/>
            <a:ext cx="3333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사람의 판단이 필요한 지점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33400" y="54102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모델이 후보를 넓게 제안하고, 사용자는 유지/치환 대상을 최종 결정한다.</a:t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DETECTION ROADMAP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다음 전환점은 데모 박스를 실제 모델 기반 탐지로 교체하는 것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33400" y="1619250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현재 RunPod Flash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705600" y="1619250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목표 RunPod 탐지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33400" y="2190750"/>
            <a:ext cx="4953000" cy="685800"/>
          </a:xfrm>
          <a:prstGeom prst="roundRect">
            <a:avLst>
              <a:gd name="adj" fmla="val 16667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81050" y="23336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이미지 입력</a:t>
            </a: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>
            <a:off x="3009900" y="2876550"/>
            <a:ext cx="0" cy="238125"/>
          </a:xfrm>
          <a:prstGeom prst="straightConnector1">
            <a:avLst/>
          </a:prstGeom>
          <a:noFill/>
          <a:ln w="19050" cap="flat" cmpd="sng">
            <a:solidFill>
              <a:srgbClr val="6670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9"/>
          <p:cNvSpPr/>
          <p:nvPr/>
        </p:nvSpPr>
        <p:spPr>
          <a:xfrm>
            <a:off x="533400" y="3190875"/>
            <a:ext cx="4953000" cy="685800"/>
          </a:xfrm>
          <a:prstGeom prst="roundRect">
            <a:avLst>
              <a:gd name="adj" fmla="val 16667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781050" y="333375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데모 후보 생성</a:t>
            </a:r>
            <a:endParaRPr/>
          </a:p>
        </p:txBody>
      </p:sp>
      <p:cxnSp>
        <p:nvCxnSpPr>
          <p:cNvPr id="171" name="Google Shape;171;p9"/>
          <p:cNvCxnSpPr/>
          <p:nvPr/>
        </p:nvCxnSpPr>
        <p:spPr>
          <a:xfrm>
            <a:off x="3009900" y="3876675"/>
            <a:ext cx="0" cy="238125"/>
          </a:xfrm>
          <a:prstGeom prst="straightConnector1">
            <a:avLst/>
          </a:prstGeom>
          <a:noFill/>
          <a:ln w="19050" cap="flat" cmpd="sng">
            <a:solidFill>
              <a:srgbClr val="6670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9"/>
          <p:cNvSpPr/>
          <p:nvPr/>
        </p:nvSpPr>
        <p:spPr>
          <a:xfrm>
            <a:off x="533400" y="4191000"/>
            <a:ext cx="4953000" cy="685800"/>
          </a:xfrm>
          <a:prstGeom prst="roundRect">
            <a:avLst>
              <a:gd name="adj" fmla="val 16667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81050" y="433387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얼굴/간판 박스 반환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705600" y="2095500"/>
            <a:ext cx="4953000" cy="590550"/>
          </a:xfrm>
          <a:prstGeom prst="roundRect">
            <a:avLst>
              <a:gd name="adj" fmla="val 19355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953250" y="220980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InsightFace / RetinaFace  ·  얼굴</a:t>
            </a:r>
            <a:endParaRPr/>
          </a:p>
        </p:txBody>
      </p:sp>
      <p:cxnSp>
        <p:nvCxnSpPr>
          <p:cNvPr id="176" name="Google Shape;176;p9"/>
          <p:cNvCxnSpPr/>
          <p:nvPr/>
        </p:nvCxnSpPr>
        <p:spPr>
          <a:xfrm>
            <a:off x="9182100" y="2686050"/>
            <a:ext cx="0" cy="17145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9"/>
          <p:cNvSpPr/>
          <p:nvPr/>
        </p:nvSpPr>
        <p:spPr>
          <a:xfrm>
            <a:off x="6705600" y="2914650"/>
            <a:ext cx="4953000" cy="590550"/>
          </a:xfrm>
          <a:prstGeom prst="roundRect">
            <a:avLst>
              <a:gd name="adj" fmla="val 19355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6953250" y="30289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GroundingDINO  ·  간판·표지판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9182100" y="3505200"/>
            <a:ext cx="0" cy="17145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9"/>
          <p:cNvSpPr/>
          <p:nvPr/>
        </p:nvSpPr>
        <p:spPr>
          <a:xfrm>
            <a:off x="6705600" y="3733800"/>
            <a:ext cx="4953000" cy="590550"/>
          </a:xfrm>
          <a:prstGeom prst="roundRect">
            <a:avLst>
              <a:gd name="adj" fmla="val 19355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6953250" y="384810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PaddleOCR  ·  글씨와 개인정보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9182100" y="4324350"/>
            <a:ext cx="0" cy="17145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9"/>
          <p:cNvSpPr/>
          <p:nvPr/>
        </p:nvSpPr>
        <p:spPr>
          <a:xfrm>
            <a:off x="6705600" y="4552950"/>
            <a:ext cx="4953000" cy="590550"/>
          </a:xfrm>
          <a:prstGeom prst="roundRect">
            <a:avLst>
              <a:gd name="adj" fmla="val 19355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953250" y="46672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SAM2  ·  정확한 마스크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705600" y="5600700"/>
            <a:ext cx="666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출력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410450" y="5524500"/>
            <a:ext cx="42481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후보 박스 + 객체 유형 + 신뢰도 + 픽셀 단위 마스크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HUMAN-IN-THE-LOOP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모델은 제안하고, 사용자가 최종 치환 범위를 결정한다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4785" y="1946959"/>
            <a:ext cx="4698840" cy="3691842"/>
          </a:xfrm>
          <a:prstGeom prst="roundRect">
            <a:avLst>
              <a:gd name="adj" fmla="val 1747"/>
            </a:avLst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7524750" y="1809750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초록색</a:t>
            </a:r>
            <a:r>
              <a:rPr lang="en-US" sz="1800" b="1" dirty="0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 sz="1800" b="1" dirty="0" err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체크됨</a:t>
            </a:r>
            <a:endParaRPr dirty="0"/>
          </a:p>
        </p:txBody>
      </p:sp>
      <p:sp>
        <p:nvSpPr>
          <p:cNvPr id="198" name="Google Shape;198;p10"/>
          <p:cNvSpPr/>
          <p:nvPr/>
        </p:nvSpPr>
        <p:spPr>
          <a:xfrm>
            <a:off x="7524750" y="217170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치환 대상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7524750" y="2781300"/>
            <a:ext cx="3714750" cy="1905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524750" y="3048000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79124"/>
                </a:solidFill>
                <a:latin typeface="Arial"/>
                <a:ea typeface="Arial"/>
                <a:cs typeface="Arial"/>
                <a:sym typeface="Arial"/>
              </a:rPr>
              <a:t>금색 · 체크 해제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7524750" y="340995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유지 대상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7524750" y="4019550"/>
            <a:ext cx="3714750" cy="1905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7524750" y="4324350"/>
            <a:ext cx="371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‘유지 클릭’ 후 이미지 위 마스크를 누르면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해당 인물·간판은 원본 그대로 보존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7524750" y="552450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판단 주체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439150" y="5448300"/>
            <a:ext cx="2800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자동 탐지 → 사람의 의사결정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7013A50-E1FC-D02A-3DA2-E46A6247A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4" name="그림 3" descr="의류, 사람, 야외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5E27A1-2130-124D-4946-29466BB92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6" y="1946958"/>
            <a:ext cx="2424779" cy="3664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LOCALIZED EDITING</a:t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전체 재생성이 아니라, 선택 영역만 crop 편집 후 원본에 합성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953" y="1524000"/>
            <a:ext cx="6496394" cy="4495800"/>
          </a:xfrm>
          <a:prstGeom prst="roundRect">
            <a:avLst>
              <a:gd name="adj" fmla="val 1695"/>
            </a:avLst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7620000" y="1809750"/>
            <a:ext cx="3714750" cy="62865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7848600" y="1933575"/>
            <a:ext cx="32575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① 후보 주변 crop</a:t>
            </a:r>
            <a:endParaRPr/>
          </a:p>
        </p:txBody>
      </p:sp>
      <p:cxnSp>
        <p:nvCxnSpPr>
          <p:cNvPr id="218" name="Google Shape;218;p11"/>
          <p:cNvCxnSpPr/>
          <p:nvPr/>
        </p:nvCxnSpPr>
        <p:spPr>
          <a:xfrm>
            <a:off x="9477375" y="2438400"/>
            <a:ext cx="0" cy="15240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11"/>
          <p:cNvSpPr/>
          <p:nvPr/>
        </p:nvSpPr>
        <p:spPr>
          <a:xfrm>
            <a:off x="7620000" y="2667000"/>
            <a:ext cx="3714750" cy="62865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7848600" y="2790825"/>
            <a:ext cx="32575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② crop 내부 gpt-image-2 편집</a:t>
            </a:r>
            <a:endParaRPr/>
          </a:p>
        </p:txBody>
      </p:sp>
      <p:cxnSp>
        <p:nvCxnSpPr>
          <p:cNvPr id="221" name="Google Shape;221;p11"/>
          <p:cNvCxnSpPr/>
          <p:nvPr/>
        </p:nvCxnSpPr>
        <p:spPr>
          <a:xfrm>
            <a:off x="9477375" y="3295650"/>
            <a:ext cx="0" cy="15240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1"/>
          <p:cNvSpPr/>
          <p:nvPr/>
        </p:nvSpPr>
        <p:spPr>
          <a:xfrm>
            <a:off x="7620000" y="3524250"/>
            <a:ext cx="3714750" cy="62865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7848600" y="3648075"/>
            <a:ext cx="32575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③ 마스크 영역만 feather 합성</a:t>
            </a:r>
            <a:endParaRPr/>
          </a:p>
        </p:txBody>
      </p:sp>
      <p:cxnSp>
        <p:nvCxnSpPr>
          <p:cNvPr id="224" name="Google Shape;224;p11"/>
          <p:cNvCxnSpPr/>
          <p:nvPr/>
        </p:nvCxnSpPr>
        <p:spPr>
          <a:xfrm>
            <a:off x="9477375" y="4152900"/>
            <a:ext cx="0" cy="15240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p11"/>
          <p:cNvSpPr/>
          <p:nvPr/>
        </p:nvSpPr>
        <p:spPr>
          <a:xfrm>
            <a:off x="7620000" y="4381500"/>
            <a:ext cx="3714750" cy="628650"/>
          </a:xfrm>
          <a:prstGeom prst="roundRect">
            <a:avLst>
              <a:gd name="adj" fmla="val 18182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7848600" y="4505325"/>
            <a:ext cx="32575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④ 나머지 원본 픽셀 보존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620000" y="53911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191500" y="53149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3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배경·조명·색감은 유지하고 편집 티를 최소화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OPENAI AGENT ROLE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OpenAI는 분석 보조와 치환 프롬프트 설계를 맡는다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533400" y="1714500"/>
            <a:ext cx="5143500" cy="3943350"/>
          </a:xfrm>
          <a:prstGeom prst="roundRect">
            <a:avLst>
              <a:gd name="adj" fmla="val 2899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5981700" y="1714500"/>
            <a:ext cx="5676900" cy="3943350"/>
          </a:xfrm>
          <a:prstGeom prst="roundRect">
            <a:avLst>
              <a:gd name="adj" fmla="val 2899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838200" y="200025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이미지 분석 보조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838200" y="2724150"/>
            <a:ext cx="42481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전체 분위기와 장면 맥락 파악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얼굴·간판·표지판·번호판 분류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후보별 이유와 위험도 작성</a:t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286500" y="200025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치환 프롬프트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6286500" y="26860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얼굴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286500" y="3009900"/>
            <a:ext cx="4857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완전히 다른 비식별 얼굴 · 같은 각도/조명/노이즈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머리카락·목·옷은 유지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6286500" y="3924300"/>
            <a:ext cx="4857750" cy="1905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6286500" y="413385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간판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286500" y="4457700"/>
            <a:ext cx="4857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판 자체·질감·원근·조명은 유지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글씨만 가짜 한국어 상호로 자연스럽게 변경</a:t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838200" y="4972050"/>
            <a:ext cx="4248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치환 모델  ·  OpenAI gpt-image-2</a:t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평가는 Privacy와 Visual Quality를 동시에 통과해야 한다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533400" y="1657350"/>
            <a:ext cx="5219700" cy="4038600"/>
          </a:xfrm>
          <a:prstGeom prst="roundRect">
            <a:avLst>
              <a:gd name="adj" fmla="val 2830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5905500" y="1657350"/>
            <a:ext cx="5753100" cy="4038600"/>
          </a:xfrm>
          <a:prstGeom prst="roundRect">
            <a:avLst>
              <a:gd name="adj" fmla="val 2830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8200" y="194310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8200" y="232410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연결 가능성을 제거한다</a:t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38200" y="3048000"/>
            <a:ext cx="44767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원본 얼굴과 결과 얼굴의 식별 가능성 저하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장소명·주소·전화번호 제거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실제 인물 얼굴을 새 개인정보로 재사용하지 않음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결과가 원본 인물·장소와 연결되지 않음</a:t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38200" y="5048250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504950" y="4972050"/>
            <a:ext cx="3810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얼굴 임베딩 거리 · OCR 잔존 문자열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210300" y="19431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VISUAL QUALITY</a:t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6210300" y="232410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사진의 설득력을 보존한다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6210300" y="304800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블러·모자이크·검은 박스 없음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구도·분위기·조명·그림자 유지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피부 질감과 흐림·노이즈가 자연스러움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간판 원근과 글자 스타일이 자연스러움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처음부터 그렇게 촬영된 사진처럼 보임</a:t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210300" y="5048250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6877050" y="4972050"/>
            <a:ext cx="4286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픽셀 보존 · 경계 자연스러움 · 육안 QA</a:t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NEXT MILESTONE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533400" y="514350"/>
            <a:ext cx="1112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최종 목표: 생성·합성·재검증이 닫힌 개인정보 보호 파이프라인</a:t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533400" y="12192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9" name="Google Shape;279;p14"/>
          <p:cNvCxnSpPr/>
          <p:nvPr/>
        </p:nvCxnSpPr>
        <p:spPr>
          <a:xfrm>
            <a:off x="2152650" y="2743200"/>
            <a:ext cx="552450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p14"/>
          <p:cNvSpPr/>
          <p:nvPr/>
        </p:nvSpPr>
        <p:spPr>
          <a:xfrm>
            <a:off x="533400" y="224790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647700" y="2343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647700" y="2533650"/>
            <a:ext cx="139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실모델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탐지</a:t>
            </a:r>
            <a:endParaRPr/>
          </a:p>
        </p:txBody>
      </p:sp>
      <p:cxnSp>
        <p:nvCxnSpPr>
          <p:cNvPr id="283" name="Google Shape;283;p14"/>
          <p:cNvCxnSpPr/>
          <p:nvPr/>
        </p:nvCxnSpPr>
        <p:spPr>
          <a:xfrm>
            <a:off x="4476750" y="2743200"/>
            <a:ext cx="552450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14"/>
          <p:cNvSpPr/>
          <p:nvPr/>
        </p:nvSpPr>
        <p:spPr>
          <a:xfrm>
            <a:off x="2857500" y="224790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2971800" y="2343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2971800" y="2533650"/>
            <a:ext cx="139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선택</a:t>
            </a:r>
            <a:endParaRPr/>
          </a:p>
        </p:txBody>
      </p:sp>
      <p:cxnSp>
        <p:nvCxnSpPr>
          <p:cNvPr id="287" name="Google Shape;287;p14"/>
          <p:cNvCxnSpPr/>
          <p:nvPr/>
        </p:nvCxnSpPr>
        <p:spPr>
          <a:xfrm>
            <a:off x="6800850" y="2743200"/>
            <a:ext cx="552450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14"/>
          <p:cNvSpPr/>
          <p:nvPr/>
        </p:nvSpPr>
        <p:spPr>
          <a:xfrm>
            <a:off x="5181600" y="224790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5295900" y="2343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5295900" y="2533650"/>
            <a:ext cx="139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국소 생성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치환</a:t>
            </a:r>
            <a:endParaRPr/>
          </a:p>
        </p:txBody>
      </p:sp>
      <p:cxnSp>
        <p:nvCxnSpPr>
          <p:cNvPr id="291" name="Google Shape;291;p14"/>
          <p:cNvCxnSpPr/>
          <p:nvPr/>
        </p:nvCxnSpPr>
        <p:spPr>
          <a:xfrm>
            <a:off x="9124950" y="2743200"/>
            <a:ext cx="552450" cy="0"/>
          </a:xfrm>
          <a:prstGeom prst="straightConnector1">
            <a:avLst/>
          </a:prstGeom>
          <a:noFill/>
          <a:ln w="19050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" name="Google Shape;292;p14"/>
          <p:cNvSpPr/>
          <p:nvPr/>
        </p:nvSpPr>
        <p:spPr>
          <a:xfrm>
            <a:off x="7505700" y="224790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F1F3F5"/>
          </a:solidFill>
          <a:ln w="9525" cap="flat" cmpd="sng">
            <a:solidFill>
              <a:srgbClr val="B8BC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620000" y="2343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7620000" y="2533650"/>
            <a:ext cx="139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원본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합성</a:t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9829800" y="224790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DDF4F1"/>
          </a:solidFill>
          <a:ln w="9525" cap="flat" cmpd="sng">
            <a:solidFill>
              <a:srgbClr val="118C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9944100" y="2343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9944100" y="2533650"/>
            <a:ext cx="139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임베딩 + OCR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재검증</a:t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33400" y="390525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18C86"/>
                </a:solidFill>
                <a:latin typeface="Arial"/>
                <a:ea typeface="Arial"/>
                <a:cs typeface="Arial"/>
                <a:sym typeface="Arial"/>
              </a:rPr>
              <a:t>다음 핵심 작업</a:t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33400" y="428625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RunPod endpoint를 InsightFace/RetinaFace · GroundingDINO · PaddleOCR · SAM2 기반으로 전환</a:t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533400" y="5257800"/>
            <a:ext cx="11125200" cy="19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533400" y="5524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완료 기준</a:t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1657350" y="5410200"/>
            <a:ext cx="10001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식별 요소는 사라지고, 사진의 맥락과 자연스러움은 남는다.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11353800" y="64770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Microsoft Macintosh PowerPoint</Application>
  <PresentationFormat>와이드스크린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Arial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Seohyun Han</cp:lastModifiedBy>
  <cp:revision>1</cp:revision>
  <dcterms:modified xsi:type="dcterms:W3CDTF">2026-08-16T08:24:03Z</dcterms:modified>
</cp:coreProperties>
</file>